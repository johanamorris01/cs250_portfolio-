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30AAB9-3E04-288C-513B-96FEC625DB3A}" v="748" dt="2026-04-20T04:10:13.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9F3225-6ADC-4EEF-BC49-8FF5DACDA4FC}"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DB45AAE-A064-4CCF-AEF6-0943B7930009}">
      <dgm:prSet/>
      <dgm:spPr/>
      <dgm:t>
        <a:bodyPr/>
        <a:lstStyle/>
        <a:p>
          <a:r>
            <a:rPr lang="en-US" b="1"/>
            <a:t>Planning:</a:t>
          </a:r>
          <a:r>
            <a:rPr lang="en-US"/>
            <a:t> The team reviews the backlog and decides what work can be completed in the sprint </a:t>
          </a:r>
        </a:p>
      </dgm:t>
    </dgm:pt>
    <dgm:pt modelId="{976C41EC-A5A5-4BD2-865D-79F033878DA5}" type="parTrans" cxnId="{5CF75C86-C706-4FD4-A4E4-7FB40128A394}">
      <dgm:prSet/>
      <dgm:spPr/>
      <dgm:t>
        <a:bodyPr/>
        <a:lstStyle/>
        <a:p>
          <a:endParaRPr lang="en-US"/>
        </a:p>
      </dgm:t>
    </dgm:pt>
    <dgm:pt modelId="{7C1B38CB-8C6B-43B6-A348-84401DC078FA}" type="sibTrans" cxnId="{5CF75C86-C706-4FD4-A4E4-7FB40128A394}">
      <dgm:prSet/>
      <dgm:spPr/>
      <dgm:t>
        <a:bodyPr/>
        <a:lstStyle/>
        <a:p>
          <a:endParaRPr lang="en-US"/>
        </a:p>
      </dgm:t>
    </dgm:pt>
    <dgm:pt modelId="{C19B87D2-2367-42D7-A53C-F231DD4A47C6}">
      <dgm:prSet/>
      <dgm:spPr/>
      <dgm:t>
        <a:bodyPr/>
        <a:lstStyle/>
        <a:p>
          <a:r>
            <a:rPr lang="en-US" b="1"/>
            <a:t>Development:</a:t>
          </a:r>
          <a:r>
            <a:rPr lang="en-US"/>
            <a:t> Features are built step-by-step based on the selected user stories </a:t>
          </a:r>
        </a:p>
      </dgm:t>
    </dgm:pt>
    <dgm:pt modelId="{A8C92508-76A4-4B43-9B03-02549C629687}" type="parTrans" cxnId="{39A487C4-3340-4CBA-9BAF-174A9B048CB0}">
      <dgm:prSet/>
      <dgm:spPr/>
      <dgm:t>
        <a:bodyPr/>
        <a:lstStyle/>
        <a:p>
          <a:endParaRPr lang="en-US"/>
        </a:p>
      </dgm:t>
    </dgm:pt>
    <dgm:pt modelId="{2AA96852-56DA-4C20-A415-E9A91F9D357B}" type="sibTrans" cxnId="{39A487C4-3340-4CBA-9BAF-174A9B048CB0}">
      <dgm:prSet/>
      <dgm:spPr/>
      <dgm:t>
        <a:bodyPr/>
        <a:lstStyle/>
        <a:p>
          <a:endParaRPr lang="en-US"/>
        </a:p>
      </dgm:t>
    </dgm:pt>
    <dgm:pt modelId="{A3D146DD-B5A5-484E-B0FB-144ED236D1B1}">
      <dgm:prSet/>
      <dgm:spPr/>
      <dgm:t>
        <a:bodyPr/>
        <a:lstStyle/>
        <a:p>
          <a:r>
            <a:rPr lang="en-US" b="1"/>
            <a:t>Testing:</a:t>
          </a:r>
          <a:r>
            <a:rPr lang="en-US"/>
            <a:t> Work is tested continuously to catch issues early </a:t>
          </a:r>
        </a:p>
      </dgm:t>
    </dgm:pt>
    <dgm:pt modelId="{12FFFC57-9750-4303-8B9D-BB23BAEC3403}" type="parTrans" cxnId="{03F9AA81-131B-40A0-BCF6-2C4D0CE73091}">
      <dgm:prSet/>
      <dgm:spPr/>
      <dgm:t>
        <a:bodyPr/>
        <a:lstStyle/>
        <a:p>
          <a:endParaRPr lang="en-US"/>
        </a:p>
      </dgm:t>
    </dgm:pt>
    <dgm:pt modelId="{4FAF2248-4BD3-412E-8BBE-3537846BE581}" type="sibTrans" cxnId="{03F9AA81-131B-40A0-BCF6-2C4D0CE73091}">
      <dgm:prSet/>
      <dgm:spPr/>
      <dgm:t>
        <a:bodyPr/>
        <a:lstStyle/>
        <a:p>
          <a:endParaRPr lang="en-US"/>
        </a:p>
      </dgm:t>
    </dgm:pt>
    <dgm:pt modelId="{8BE5DF15-BE2C-47F4-9295-9B7926FE6767}">
      <dgm:prSet/>
      <dgm:spPr/>
      <dgm:t>
        <a:bodyPr/>
        <a:lstStyle/>
        <a:p>
          <a:r>
            <a:rPr lang="en-US" b="1"/>
            <a:t>Review:</a:t>
          </a:r>
          <a:r>
            <a:rPr lang="en-US"/>
            <a:t> The team presents completed work and gathers feedback </a:t>
          </a:r>
        </a:p>
      </dgm:t>
    </dgm:pt>
    <dgm:pt modelId="{978FD850-501B-463C-85F5-DA3AF8357EDB}" type="parTrans" cxnId="{A077D39D-C5AD-4A3F-8EB5-6ECF44C7BEF2}">
      <dgm:prSet/>
      <dgm:spPr/>
      <dgm:t>
        <a:bodyPr/>
        <a:lstStyle/>
        <a:p>
          <a:endParaRPr lang="en-US"/>
        </a:p>
      </dgm:t>
    </dgm:pt>
    <dgm:pt modelId="{F7CB6ACF-78F5-4BC6-8F50-1FED4E152FD2}" type="sibTrans" cxnId="{A077D39D-C5AD-4A3F-8EB5-6ECF44C7BEF2}">
      <dgm:prSet/>
      <dgm:spPr/>
      <dgm:t>
        <a:bodyPr/>
        <a:lstStyle/>
        <a:p>
          <a:endParaRPr lang="en-US"/>
        </a:p>
      </dgm:t>
    </dgm:pt>
    <dgm:pt modelId="{804B6158-979D-4025-8E1A-F4D898ED2448}">
      <dgm:prSet/>
      <dgm:spPr/>
      <dgm:t>
        <a:bodyPr/>
        <a:lstStyle/>
        <a:p>
          <a:r>
            <a:rPr lang="en-US" b="1"/>
            <a:t>Retrospective:</a:t>
          </a:r>
          <a:r>
            <a:rPr lang="en-US"/>
            <a:t> The team reflects on what went well and what could be improved</a:t>
          </a:r>
        </a:p>
      </dgm:t>
    </dgm:pt>
    <dgm:pt modelId="{0C89F4AD-8624-49FA-9DAD-07FDD85676D8}" type="parTrans" cxnId="{80861326-AFD7-4169-9A72-2B9930864486}">
      <dgm:prSet/>
      <dgm:spPr/>
      <dgm:t>
        <a:bodyPr/>
        <a:lstStyle/>
        <a:p>
          <a:endParaRPr lang="en-US"/>
        </a:p>
      </dgm:t>
    </dgm:pt>
    <dgm:pt modelId="{C248DCC7-1AF5-4D5C-A754-B0022720D343}" type="sibTrans" cxnId="{80861326-AFD7-4169-9A72-2B9930864486}">
      <dgm:prSet/>
      <dgm:spPr/>
      <dgm:t>
        <a:bodyPr/>
        <a:lstStyle/>
        <a:p>
          <a:endParaRPr lang="en-US"/>
        </a:p>
      </dgm:t>
    </dgm:pt>
    <dgm:pt modelId="{15CE2477-DF75-49A5-A0CD-ED57C40392FD}" type="pres">
      <dgm:prSet presAssocID="{E59F3225-6ADC-4EEF-BC49-8FF5DACDA4FC}" presName="linear" presStyleCnt="0">
        <dgm:presLayoutVars>
          <dgm:animLvl val="lvl"/>
          <dgm:resizeHandles val="exact"/>
        </dgm:presLayoutVars>
      </dgm:prSet>
      <dgm:spPr/>
    </dgm:pt>
    <dgm:pt modelId="{AC22206C-6CDE-494C-A28B-E68B06919B35}" type="pres">
      <dgm:prSet presAssocID="{EDB45AAE-A064-4CCF-AEF6-0943B7930009}" presName="parentText" presStyleLbl="node1" presStyleIdx="0" presStyleCnt="5">
        <dgm:presLayoutVars>
          <dgm:chMax val="0"/>
          <dgm:bulletEnabled val="1"/>
        </dgm:presLayoutVars>
      </dgm:prSet>
      <dgm:spPr/>
    </dgm:pt>
    <dgm:pt modelId="{E00A7577-1ED0-45AC-AB3B-E54653E70EEB}" type="pres">
      <dgm:prSet presAssocID="{7C1B38CB-8C6B-43B6-A348-84401DC078FA}" presName="spacer" presStyleCnt="0"/>
      <dgm:spPr/>
    </dgm:pt>
    <dgm:pt modelId="{B1A246AA-AFC4-4A90-8A42-3B3B961C9FB3}" type="pres">
      <dgm:prSet presAssocID="{C19B87D2-2367-42D7-A53C-F231DD4A47C6}" presName="parentText" presStyleLbl="node1" presStyleIdx="1" presStyleCnt="5">
        <dgm:presLayoutVars>
          <dgm:chMax val="0"/>
          <dgm:bulletEnabled val="1"/>
        </dgm:presLayoutVars>
      </dgm:prSet>
      <dgm:spPr/>
    </dgm:pt>
    <dgm:pt modelId="{09A076EF-B078-411E-A80D-ED8C680BEAED}" type="pres">
      <dgm:prSet presAssocID="{2AA96852-56DA-4C20-A415-E9A91F9D357B}" presName="spacer" presStyleCnt="0"/>
      <dgm:spPr/>
    </dgm:pt>
    <dgm:pt modelId="{7C91E42C-7652-4845-8919-7D88B05A81DD}" type="pres">
      <dgm:prSet presAssocID="{A3D146DD-B5A5-484E-B0FB-144ED236D1B1}" presName="parentText" presStyleLbl="node1" presStyleIdx="2" presStyleCnt="5">
        <dgm:presLayoutVars>
          <dgm:chMax val="0"/>
          <dgm:bulletEnabled val="1"/>
        </dgm:presLayoutVars>
      </dgm:prSet>
      <dgm:spPr/>
    </dgm:pt>
    <dgm:pt modelId="{BF628129-EC85-4846-9186-509609A004A7}" type="pres">
      <dgm:prSet presAssocID="{4FAF2248-4BD3-412E-8BBE-3537846BE581}" presName="spacer" presStyleCnt="0"/>
      <dgm:spPr/>
    </dgm:pt>
    <dgm:pt modelId="{38827CD2-FA32-466D-9266-869ADEF3A842}" type="pres">
      <dgm:prSet presAssocID="{8BE5DF15-BE2C-47F4-9295-9B7926FE6767}" presName="parentText" presStyleLbl="node1" presStyleIdx="3" presStyleCnt="5">
        <dgm:presLayoutVars>
          <dgm:chMax val="0"/>
          <dgm:bulletEnabled val="1"/>
        </dgm:presLayoutVars>
      </dgm:prSet>
      <dgm:spPr/>
    </dgm:pt>
    <dgm:pt modelId="{F0091FF0-CA21-49CD-82FA-A16F2F8770D2}" type="pres">
      <dgm:prSet presAssocID="{F7CB6ACF-78F5-4BC6-8F50-1FED4E152FD2}" presName="spacer" presStyleCnt="0"/>
      <dgm:spPr/>
    </dgm:pt>
    <dgm:pt modelId="{AB37FF3D-99B3-4F97-B62D-5189210DFC98}" type="pres">
      <dgm:prSet presAssocID="{804B6158-979D-4025-8E1A-F4D898ED2448}" presName="parentText" presStyleLbl="node1" presStyleIdx="4" presStyleCnt="5">
        <dgm:presLayoutVars>
          <dgm:chMax val="0"/>
          <dgm:bulletEnabled val="1"/>
        </dgm:presLayoutVars>
      </dgm:prSet>
      <dgm:spPr/>
    </dgm:pt>
  </dgm:ptLst>
  <dgm:cxnLst>
    <dgm:cxn modelId="{96AD9A03-5761-470E-80CA-18F7EEAA4950}" type="presOf" srcId="{8BE5DF15-BE2C-47F4-9295-9B7926FE6767}" destId="{38827CD2-FA32-466D-9266-869ADEF3A842}" srcOrd="0" destOrd="0" presId="urn:microsoft.com/office/officeart/2005/8/layout/vList2"/>
    <dgm:cxn modelId="{80861326-AFD7-4169-9A72-2B9930864486}" srcId="{E59F3225-6ADC-4EEF-BC49-8FF5DACDA4FC}" destId="{804B6158-979D-4025-8E1A-F4D898ED2448}" srcOrd="4" destOrd="0" parTransId="{0C89F4AD-8624-49FA-9DAD-07FDD85676D8}" sibTransId="{C248DCC7-1AF5-4D5C-A754-B0022720D343}"/>
    <dgm:cxn modelId="{3AE5D133-5A42-4226-B6BB-EFC0D362FD44}" type="presOf" srcId="{E59F3225-6ADC-4EEF-BC49-8FF5DACDA4FC}" destId="{15CE2477-DF75-49A5-A0CD-ED57C40392FD}" srcOrd="0" destOrd="0" presId="urn:microsoft.com/office/officeart/2005/8/layout/vList2"/>
    <dgm:cxn modelId="{D1D55177-6751-41EE-AF80-F5616848FDD0}" type="presOf" srcId="{A3D146DD-B5A5-484E-B0FB-144ED236D1B1}" destId="{7C91E42C-7652-4845-8919-7D88B05A81DD}" srcOrd="0" destOrd="0" presId="urn:microsoft.com/office/officeart/2005/8/layout/vList2"/>
    <dgm:cxn modelId="{03F9AA81-131B-40A0-BCF6-2C4D0CE73091}" srcId="{E59F3225-6ADC-4EEF-BC49-8FF5DACDA4FC}" destId="{A3D146DD-B5A5-484E-B0FB-144ED236D1B1}" srcOrd="2" destOrd="0" parTransId="{12FFFC57-9750-4303-8B9D-BB23BAEC3403}" sibTransId="{4FAF2248-4BD3-412E-8BBE-3537846BE581}"/>
    <dgm:cxn modelId="{5CF75C86-C706-4FD4-A4E4-7FB40128A394}" srcId="{E59F3225-6ADC-4EEF-BC49-8FF5DACDA4FC}" destId="{EDB45AAE-A064-4CCF-AEF6-0943B7930009}" srcOrd="0" destOrd="0" parTransId="{976C41EC-A5A5-4BD2-865D-79F033878DA5}" sibTransId="{7C1B38CB-8C6B-43B6-A348-84401DC078FA}"/>
    <dgm:cxn modelId="{A077D39D-C5AD-4A3F-8EB5-6ECF44C7BEF2}" srcId="{E59F3225-6ADC-4EEF-BC49-8FF5DACDA4FC}" destId="{8BE5DF15-BE2C-47F4-9295-9B7926FE6767}" srcOrd="3" destOrd="0" parTransId="{978FD850-501B-463C-85F5-DA3AF8357EDB}" sibTransId="{F7CB6ACF-78F5-4BC6-8F50-1FED4E152FD2}"/>
    <dgm:cxn modelId="{638D8FAC-5B73-4E9A-8110-D7296C893F2F}" type="presOf" srcId="{EDB45AAE-A064-4CCF-AEF6-0943B7930009}" destId="{AC22206C-6CDE-494C-A28B-E68B06919B35}" srcOrd="0" destOrd="0" presId="urn:microsoft.com/office/officeart/2005/8/layout/vList2"/>
    <dgm:cxn modelId="{F8C299AE-AB05-41EC-A49C-87C9ADEA050F}" type="presOf" srcId="{C19B87D2-2367-42D7-A53C-F231DD4A47C6}" destId="{B1A246AA-AFC4-4A90-8A42-3B3B961C9FB3}" srcOrd="0" destOrd="0" presId="urn:microsoft.com/office/officeart/2005/8/layout/vList2"/>
    <dgm:cxn modelId="{39A487C4-3340-4CBA-9BAF-174A9B048CB0}" srcId="{E59F3225-6ADC-4EEF-BC49-8FF5DACDA4FC}" destId="{C19B87D2-2367-42D7-A53C-F231DD4A47C6}" srcOrd="1" destOrd="0" parTransId="{A8C92508-76A4-4B43-9B03-02549C629687}" sibTransId="{2AA96852-56DA-4C20-A415-E9A91F9D357B}"/>
    <dgm:cxn modelId="{0A32FBF1-68BA-41B5-A93A-C0890BB3C5BC}" type="presOf" srcId="{804B6158-979D-4025-8E1A-F4D898ED2448}" destId="{AB37FF3D-99B3-4F97-B62D-5189210DFC98}" srcOrd="0" destOrd="0" presId="urn:microsoft.com/office/officeart/2005/8/layout/vList2"/>
    <dgm:cxn modelId="{8E9AC2E3-A62E-496F-8FD8-F29D47D3E550}" type="presParOf" srcId="{15CE2477-DF75-49A5-A0CD-ED57C40392FD}" destId="{AC22206C-6CDE-494C-A28B-E68B06919B35}" srcOrd="0" destOrd="0" presId="urn:microsoft.com/office/officeart/2005/8/layout/vList2"/>
    <dgm:cxn modelId="{A7A0A533-6FA6-4234-BDCF-7C280CCB42C6}" type="presParOf" srcId="{15CE2477-DF75-49A5-A0CD-ED57C40392FD}" destId="{E00A7577-1ED0-45AC-AB3B-E54653E70EEB}" srcOrd="1" destOrd="0" presId="urn:microsoft.com/office/officeart/2005/8/layout/vList2"/>
    <dgm:cxn modelId="{9C7263E4-B185-4197-94DF-22D4A0D91442}" type="presParOf" srcId="{15CE2477-DF75-49A5-A0CD-ED57C40392FD}" destId="{B1A246AA-AFC4-4A90-8A42-3B3B961C9FB3}" srcOrd="2" destOrd="0" presId="urn:microsoft.com/office/officeart/2005/8/layout/vList2"/>
    <dgm:cxn modelId="{89B7B1A2-C1B4-49E1-B720-EBEED09D3055}" type="presParOf" srcId="{15CE2477-DF75-49A5-A0CD-ED57C40392FD}" destId="{09A076EF-B078-411E-A80D-ED8C680BEAED}" srcOrd="3" destOrd="0" presId="urn:microsoft.com/office/officeart/2005/8/layout/vList2"/>
    <dgm:cxn modelId="{D2E717ED-DBD1-45B1-836D-B0ACB93B0D1F}" type="presParOf" srcId="{15CE2477-DF75-49A5-A0CD-ED57C40392FD}" destId="{7C91E42C-7652-4845-8919-7D88B05A81DD}" srcOrd="4" destOrd="0" presId="urn:microsoft.com/office/officeart/2005/8/layout/vList2"/>
    <dgm:cxn modelId="{6108AEDC-696E-44D8-9FC4-56BCBBAE8FD5}" type="presParOf" srcId="{15CE2477-DF75-49A5-A0CD-ED57C40392FD}" destId="{BF628129-EC85-4846-9186-509609A004A7}" srcOrd="5" destOrd="0" presId="urn:microsoft.com/office/officeart/2005/8/layout/vList2"/>
    <dgm:cxn modelId="{3E6EF0A3-6F7A-4260-9F00-0BD06E08BD2E}" type="presParOf" srcId="{15CE2477-DF75-49A5-A0CD-ED57C40392FD}" destId="{38827CD2-FA32-466D-9266-869ADEF3A842}" srcOrd="6" destOrd="0" presId="urn:microsoft.com/office/officeart/2005/8/layout/vList2"/>
    <dgm:cxn modelId="{30B586A3-C623-4200-8075-35663AC9235F}" type="presParOf" srcId="{15CE2477-DF75-49A5-A0CD-ED57C40392FD}" destId="{F0091FF0-CA21-49CD-82FA-A16F2F8770D2}" srcOrd="7" destOrd="0" presId="urn:microsoft.com/office/officeart/2005/8/layout/vList2"/>
    <dgm:cxn modelId="{405231F1-AF20-4888-88F2-FC9A67998B5D}" type="presParOf" srcId="{15CE2477-DF75-49A5-A0CD-ED57C40392FD}" destId="{AB37FF3D-99B3-4F97-B62D-5189210DFC9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22206C-6CDE-494C-A28B-E68B06919B35}">
      <dsp:nvSpPr>
        <dsp:cNvPr id="0" name=""/>
        <dsp:cNvSpPr/>
      </dsp:nvSpPr>
      <dsp:spPr>
        <a:xfrm>
          <a:off x="0" y="304295"/>
          <a:ext cx="6314266" cy="8751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Planning:</a:t>
          </a:r>
          <a:r>
            <a:rPr lang="en-US" sz="2200" kern="1200"/>
            <a:t> The team reviews the backlog and decides what work can be completed in the sprint </a:t>
          </a:r>
        </a:p>
      </dsp:txBody>
      <dsp:txXfrm>
        <a:off x="42722" y="347017"/>
        <a:ext cx="6228822" cy="789716"/>
      </dsp:txXfrm>
    </dsp:sp>
    <dsp:sp modelId="{B1A246AA-AFC4-4A90-8A42-3B3B961C9FB3}">
      <dsp:nvSpPr>
        <dsp:cNvPr id="0" name=""/>
        <dsp:cNvSpPr/>
      </dsp:nvSpPr>
      <dsp:spPr>
        <a:xfrm>
          <a:off x="0" y="1242815"/>
          <a:ext cx="6314266" cy="875160"/>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Development:</a:t>
          </a:r>
          <a:r>
            <a:rPr lang="en-US" sz="2200" kern="1200"/>
            <a:t> Features are built step-by-step based on the selected user stories </a:t>
          </a:r>
        </a:p>
      </dsp:txBody>
      <dsp:txXfrm>
        <a:off x="42722" y="1285537"/>
        <a:ext cx="6228822" cy="789716"/>
      </dsp:txXfrm>
    </dsp:sp>
    <dsp:sp modelId="{7C91E42C-7652-4845-8919-7D88B05A81DD}">
      <dsp:nvSpPr>
        <dsp:cNvPr id="0" name=""/>
        <dsp:cNvSpPr/>
      </dsp:nvSpPr>
      <dsp:spPr>
        <a:xfrm>
          <a:off x="0" y="2181335"/>
          <a:ext cx="6314266" cy="87516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Testing:</a:t>
          </a:r>
          <a:r>
            <a:rPr lang="en-US" sz="2200" kern="1200"/>
            <a:t> Work is tested continuously to catch issues early </a:t>
          </a:r>
        </a:p>
      </dsp:txBody>
      <dsp:txXfrm>
        <a:off x="42722" y="2224057"/>
        <a:ext cx="6228822" cy="789716"/>
      </dsp:txXfrm>
    </dsp:sp>
    <dsp:sp modelId="{38827CD2-FA32-466D-9266-869ADEF3A842}">
      <dsp:nvSpPr>
        <dsp:cNvPr id="0" name=""/>
        <dsp:cNvSpPr/>
      </dsp:nvSpPr>
      <dsp:spPr>
        <a:xfrm>
          <a:off x="0" y="3119855"/>
          <a:ext cx="6314266" cy="875160"/>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Review:</a:t>
          </a:r>
          <a:r>
            <a:rPr lang="en-US" sz="2200" kern="1200"/>
            <a:t> The team presents completed work and gathers feedback </a:t>
          </a:r>
        </a:p>
      </dsp:txBody>
      <dsp:txXfrm>
        <a:off x="42722" y="3162577"/>
        <a:ext cx="6228822" cy="789716"/>
      </dsp:txXfrm>
    </dsp:sp>
    <dsp:sp modelId="{AB37FF3D-99B3-4F97-B62D-5189210DFC98}">
      <dsp:nvSpPr>
        <dsp:cNvPr id="0" name=""/>
        <dsp:cNvSpPr/>
      </dsp:nvSpPr>
      <dsp:spPr>
        <a:xfrm>
          <a:off x="0" y="4058375"/>
          <a:ext cx="6314266" cy="87516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Retrospective:</a:t>
          </a:r>
          <a:r>
            <a:rPr lang="en-US" sz="2200" kern="1200"/>
            <a:t> The team reflects on what went well and what could be improved</a:t>
          </a:r>
        </a:p>
      </dsp:txBody>
      <dsp:txXfrm>
        <a:off x="42722" y="4101097"/>
        <a:ext cx="6228822" cy="7897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esearchgate.net/" TargetMode="External"/><Relationship Id="rId2" Type="http://schemas.openxmlformats.org/officeDocument/2006/relationships/hyperlink" Target="https://doi.org/10.54660/IJFMR.2022.3.2.49-64" TargetMode="External"/><Relationship Id="rId1" Type="http://schemas.openxmlformats.org/officeDocument/2006/relationships/slideLayout" Target="../slideLayouts/slideLayout2.xml"/><Relationship Id="rId4" Type="http://schemas.openxmlformats.org/officeDocument/2006/relationships/hyperlink" Target="https://doi.org/10.56734/ijbms.v4n7a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162567" y="818984"/>
            <a:ext cx="6714699" cy="3178689"/>
          </a:xfrm>
        </p:spPr>
        <p:txBody>
          <a:bodyPr>
            <a:normAutofit/>
          </a:bodyPr>
          <a:lstStyle/>
          <a:p>
            <a:pPr algn="l"/>
            <a:r>
              <a:rPr lang="en-US" sz="4800">
                <a:solidFill>
                  <a:srgbClr val="FFFFFF"/>
                </a:solidFill>
              </a:rPr>
              <a:t>Agile vs. Waterfall: SNHU Travel Project </a:t>
            </a:r>
          </a:p>
        </p:txBody>
      </p:sp>
      <p:sp>
        <p:nvSpPr>
          <p:cNvPr id="45" name="Rectangle 44">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285397" y="4960961"/>
            <a:ext cx="7055893" cy="1078054"/>
          </a:xfrm>
        </p:spPr>
        <p:txBody>
          <a:bodyPr vert="horz" lIns="91440" tIns="45720" rIns="91440" bIns="45720" rtlCol="0">
            <a:normAutofit/>
          </a:bodyPr>
          <a:lstStyle/>
          <a:p>
            <a:pPr algn="l"/>
            <a:r>
              <a:rPr lang="en-US">
                <a:solidFill>
                  <a:srgbClr val="FFFFFF"/>
                </a:solidFill>
              </a:rPr>
              <a:t>CS 250 Final Project </a:t>
            </a:r>
          </a:p>
          <a:p>
            <a:pPr algn="l"/>
            <a:r>
              <a:rPr lang="en-US">
                <a:solidFill>
                  <a:srgbClr val="FFFFFF"/>
                </a:solidFill>
              </a:rPr>
              <a:t>By Johana Morris </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01605A-0CEB-6439-E92C-201DB6A11656}"/>
              </a:ext>
            </a:extLst>
          </p:cNvPr>
          <p:cNvSpPr>
            <a:spLocks noGrp="1"/>
          </p:cNvSpPr>
          <p:nvPr>
            <p:ph type="title"/>
          </p:nvPr>
        </p:nvSpPr>
        <p:spPr>
          <a:xfrm>
            <a:off x="761800" y="762001"/>
            <a:ext cx="5334197" cy="1708242"/>
          </a:xfrm>
        </p:spPr>
        <p:txBody>
          <a:bodyPr anchor="ctr">
            <a:normAutofit/>
          </a:bodyPr>
          <a:lstStyle/>
          <a:p>
            <a:r>
              <a:rPr lang="en-US" sz="4000"/>
              <a:t>What is Agile? </a:t>
            </a:r>
          </a:p>
        </p:txBody>
      </p:sp>
      <p:sp>
        <p:nvSpPr>
          <p:cNvPr id="47" name="Content Placeholder 2">
            <a:extLst>
              <a:ext uri="{FF2B5EF4-FFF2-40B4-BE49-F238E27FC236}">
                <a16:creationId xmlns:a16="http://schemas.microsoft.com/office/drawing/2014/main" id="{802C0E38-FF9C-3A61-9AA1-171185FBADD6}"/>
              </a:ext>
            </a:extLst>
          </p:cNvPr>
          <p:cNvSpPr>
            <a:spLocks noGrp="1"/>
          </p:cNvSpPr>
          <p:nvPr>
            <p:ph idx="1"/>
          </p:nvPr>
        </p:nvSpPr>
        <p:spPr>
          <a:xfrm>
            <a:off x="761800" y="2470244"/>
            <a:ext cx="5334197" cy="3769835"/>
          </a:xfrm>
        </p:spPr>
        <p:txBody>
          <a:bodyPr anchor="ctr">
            <a:normAutofit/>
          </a:bodyPr>
          <a:lstStyle/>
          <a:p>
            <a:r>
              <a:rPr lang="en-US" sz="2000">
                <a:ea typeface="+mn-lt"/>
                <a:cs typeface="+mn-lt"/>
              </a:rPr>
              <a:t>Agile is a flexible approach to software development that focuses on breaking work into smaller, manageable pieces called sprints. Instead of planning everything upfront, teams continuously build, test, and improve as they go.</a:t>
            </a:r>
            <a:endParaRPr lang="en-US" sz="2000"/>
          </a:p>
          <a:p>
            <a:r>
              <a:rPr lang="en-US" sz="2000">
                <a:ea typeface="+mn-lt"/>
                <a:cs typeface="+mn-lt"/>
              </a:rPr>
              <a:t>What stood out to me is how much Agile focuses on adaptability. If something changes, the team can adjust without having to restart everything. It also puts a strong focus on communication and teamwork, which helps keep everyone aligned.</a:t>
            </a:r>
            <a:endParaRPr lang="en-US" sz="2000"/>
          </a:p>
          <a:p>
            <a:endParaRPr lang="en-US" sz="2000"/>
          </a:p>
        </p:txBody>
      </p:sp>
      <p:pic>
        <p:nvPicPr>
          <p:cNvPr id="48" name="Picture 47" descr="People at the meeting desk">
            <a:extLst>
              <a:ext uri="{FF2B5EF4-FFF2-40B4-BE49-F238E27FC236}">
                <a16:creationId xmlns:a16="http://schemas.microsoft.com/office/drawing/2014/main" id="{2F9E8F6B-0A7C-4D14-2DB2-6ACFA08B4B67}"/>
              </a:ext>
            </a:extLst>
          </p:cNvPr>
          <p:cNvPicPr>
            <a:picLocks noChangeAspect="1"/>
          </p:cNvPicPr>
          <p:nvPr/>
        </p:nvPicPr>
        <p:blipFill>
          <a:blip r:embed="rId2"/>
          <a:srcRect l="22650" r="33671" b="7"/>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20642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713F78-79FA-4479-38B7-97945FA2E6C5}"/>
              </a:ext>
            </a:extLst>
          </p:cNvPr>
          <p:cNvSpPr>
            <a:spLocks noGrp="1"/>
          </p:cNvSpPr>
          <p:nvPr>
            <p:ph type="title"/>
          </p:nvPr>
        </p:nvSpPr>
        <p:spPr>
          <a:xfrm>
            <a:off x="686834" y="1153572"/>
            <a:ext cx="3200400" cy="4461163"/>
          </a:xfrm>
        </p:spPr>
        <p:txBody>
          <a:bodyPr>
            <a:normAutofit/>
          </a:bodyPr>
          <a:lstStyle/>
          <a:p>
            <a:r>
              <a:rPr lang="en-US">
                <a:solidFill>
                  <a:srgbClr val="FFFFFF"/>
                </a:solidFill>
              </a:rPr>
              <a:t>Agile Roles </a:t>
            </a: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Content Placeholder 2">
            <a:extLst>
              <a:ext uri="{FF2B5EF4-FFF2-40B4-BE49-F238E27FC236}">
                <a16:creationId xmlns:a16="http://schemas.microsoft.com/office/drawing/2014/main" id="{E93ACF96-ACA7-0FCA-F634-C1EB3788B094}"/>
              </a:ext>
            </a:extLst>
          </p:cNvPr>
          <p:cNvSpPr>
            <a:spLocks noGrp="1"/>
          </p:cNvSpPr>
          <p:nvPr>
            <p:ph idx="1"/>
          </p:nvPr>
        </p:nvSpPr>
        <p:spPr>
          <a:xfrm>
            <a:off x="4447308" y="379678"/>
            <a:ext cx="6708936" cy="6150062"/>
          </a:xfrm>
        </p:spPr>
        <p:txBody>
          <a:bodyPr vert="horz" lIns="91440" tIns="45720" rIns="91440" bIns="45720" rtlCol="0" anchor="ctr">
            <a:normAutofit/>
          </a:bodyPr>
          <a:lstStyle/>
          <a:p>
            <a:pPr marL="0" indent="0">
              <a:buNone/>
            </a:pPr>
            <a:r>
              <a:rPr lang="en-US" sz="2600">
                <a:ea typeface="+mn-lt"/>
                <a:cs typeface="+mn-lt"/>
              </a:rPr>
              <a:t>In a Scrum-Agile team, there are a few main</a:t>
            </a:r>
            <a:r>
              <a:rPr lang="en-US" sz="2600" dirty="0">
                <a:ea typeface="+mn-lt"/>
                <a:cs typeface="+mn-lt"/>
              </a:rPr>
              <a:t> roles:</a:t>
            </a:r>
            <a:endParaRPr lang="en-US" sz="2600" dirty="0"/>
          </a:p>
          <a:p>
            <a:r>
              <a:rPr lang="en-US" sz="2600" b="1">
                <a:ea typeface="+mn-lt"/>
                <a:cs typeface="+mn-lt"/>
              </a:rPr>
              <a:t>Product Owner – </a:t>
            </a:r>
            <a:r>
              <a:rPr lang="en-US" sz="2600">
                <a:ea typeface="+mn-lt"/>
                <a:cs typeface="+mn-lt"/>
              </a:rPr>
              <a:t>meets with client/ stakeholder and prioritizes backlog </a:t>
            </a:r>
            <a:endParaRPr lang="en-US" sz="2600"/>
          </a:p>
          <a:p>
            <a:r>
              <a:rPr lang="en-US" sz="2600" b="1">
                <a:ea typeface="+mn-lt"/>
                <a:cs typeface="+mn-lt"/>
              </a:rPr>
              <a:t>Scrum Master – </a:t>
            </a:r>
            <a:r>
              <a:rPr lang="en-US" sz="2600">
                <a:ea typeface="+mn-lt"/>
                <a:cs typeface="+mn-lt"/>
              </a:rPr>
              <a:t>supports the team and removes obstacles </a:t>
            </a:r>
            <a:endParaRPr lang="en-US" sz="2600"/>
          </a:p>
          <a:p>
            <a:r>
              <a:rPr lang="en-US" sz="2600" b="1">
                <a:ea typeface="+mn-lt"/>
                <a:cs typeface="+mn-lt"/>
              </a:rPr>
              <a:t>Developers –  </a:t>
            </a:r>
            <a:r>
              <a:rPr lang="en-US" sz="2600">
                <a:ea typeface="+mn-lt"/>
                <a:cs typeface="+mn-lt"/>
              </a:rPr>
              <a:t>design and implement code</a:t>
            </a:r>
            <a:endParaRPr lang="en-US" sz="2600"/>
          </a:p>
          <a:p>
            <a:r>
              <a:rPr lang="en-US" sz="2600" b="1">
                <a:ea typeface="+mn-lt"/>
                <a:cs typeface="+mn-lt"/>
              </a:rPr>
              <a:t>Testers –</a:t>
            </a:r>
            <a:r>
              <a:rPr lang="en-US" sz="2600">
                <a:ea typeface="+mn-lt"/>
                <a:cs typeface="+mn-lt"/>
              </a:rPr>
              <a:t> Test the product and </a:t>
            </a:r>
            <a:r>
              <a:rPr lang="en-US" sz="2600" err="1">
                <a:ea typeface="+mn-lt"/>
                <a:cs typeface="+mn-lt"/>
              </a:rPr>
              <a:t>ensur</a:t>
            </a:r>
            <a:r>
              <a:rPr lang="en-US" sz="2600">
                <a:ea typeface="+mn-lt"/>
                <a:cs typeface="+mn-lt"/>
              </a:rPr>
              <a:t>e bugs are caught before release</a:t>
            </a:r>
          </a:p>
          <a:p>
            <a:pPr marL="0" indent="0">
              <a:buNone/>
            </a:pPr>
            <a:r>
              <a:rPr lang="en-US" sz="2600" dirty="0">
                <a:ea typeface="+mn-lt"/>
                <a:cs typeface="+mn-lt"/>
              </a:rPr>
              <a:t>From my experience in this course, the Scrum Master role stood out the most to me. It’s less about controlling the team and more about being a servant leader by supporting them and keeping things running smoothly. </a:t>
            </a:r>
            <a:r>
              <a:rPr lang="en-US" sz="2600" i="1" dirty="0">
                <a:ea typeface="+mn-lt"/>
                <a:cs typeface="+mn-lt"/>
              </a:rPr>
              <a:t>(Majka, 2024)</a:t>
            </a:r>
            <a:endParaRPr lang="en-US" sz="2600" dirty="0"/>
          </a:p>
          <a:p>
            <a:endParaRPr lang="en-US" sz="2600"/>
          </a:p>
        </p:txBody>
      </p:sp>
    </p:spTree>
    <p:extLst>
      <p:ext uri="{BB962C8B-B14F-4D97-AF65-F5344CB8AC3E}">
        <p14:creationId xmlns:p14="http://schemas.microsoft.com/office/powerpoint/2010/main" val="769438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Shape 5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2" name="Rectangle 51">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879EA7-8AB4-9368-99CC-E505A3926ADC}"/>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Agile Phases (SDLC in Agile)</a:t>
            </a:r>
          </a:p>
        </p:txBody>
      </p:sp>
      <p:graphicFrame>
        <p:nvGraphicFramePr>
          <p:cNvPr id="53" name="Content Placeholder 2">
            <a:extLst>
              <a:ext uri="{FF2B5EF4-FFF2-40B4-BE49-F238E27FC236}">
                <a16:creationId xmlns:a16="http://schemas.microsoft.com/office/drawing/2014/main" id="{0A0C939F-CBE1-F70B-3824-1E6A7B5C1605}"/>
              </a:ext>
            </a:extLst>
          </p:cNvPr>
          <p:cNvGraphicFramePr>
            <a:graphicFrameLocks noGrp="1"/>
          </p:cNvGraphicFramePr>
          <p:nvPr>
            <p:ph idx="1"/>
            <p:extLst>
              <p:ext uri="{D42A27DB-BD31-4B8C-83A1-F6EECF244321}">
                <p14:modId xmlns:p14="http://schemas.microsoft.com/office/powerpoint/2010/main" val="648136144"/>
              </p:ext>
            </p:extLst>
          </p:nvPr>
        </p:nvGraphicFramePr>
        <p:xfrm>
          <a:off x="4734455" y="511604"/>
          <a:ext cx="6314266" cy="52378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94" name="TextBox 393">
            <a:extLst>
              <a:ext uri="{FF2B5EF4-FFF2-40B4-BE49-F238E27FC236}">
                <a16:creationId xmlns:a16="http://schemas.microsoft.com/office/drawing/2014/main" id="{EE435F0D-ED01-1EAD-5B52-7EC1457CBB2F}"/>
              </a:ext>
            </a:extLst>
          </p:cNvPr>
          <p:cNvSpPr txBox="1"/>
          <p:nvPr/>
        </p:nvSpPr>
        <p:spPr>
          <a:xfrm>
            <a:off x="4563169" y="5615917"/>
            <a:ext cx="70269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To me, this cycle makes a lot of sense because it allows teams to improve as they go instead of waiting until the end to fix problems. </a:t>
            </a:r>
            <a:r>
              <a:rPr lang="en-US" i="1">
                <a:ea typeface="+mn-lt"/>
                <a:cs typeface="+mn-lt"/>
              </a:rPr>
              <a:t>(Appoh et al., 2022)</a:t>
            </a:r>
            <a:endParaRPr lang="en-US"/>
          </a:p>
        </p:txBody>
      </p:sp>
      <p:sp>
        <p:nvSpPr>
          <p:cNvPr id="401" name="TextBox 400">
            <a:extLst>
              <a:ext uri="{FF2B5EF4-FFF2-40B4-BE49-F238E27FC236}">
                <a16:creationId xmlns:a16="http://schemas.microsoft.com/office/drawing/2014/main" id="{9A432D76-3F40-11BF-6390-4A7BD942D7E8}"/>
              </a:ext>
            </a:extLst>
          </p:cNvPr>
          <p:cNvSpPr txBox="1"/>
          <p:nvPr/>
        </p:nvSpPr>
        <p:spPr>
          <a:xfrm>
            <a:off x="4187954" y="267384"/>
            <a:ext cx="7402054"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ea typeface="+mn-lt"/>
                <a:cs typeface="+mn-lt"/>
              </a:rPr>
              <a:t>Agile follows a cycle that repeats every sprint:</a:t>
            </a:r>
            <a:endParaRPr lang="en-US" sz="2600" b="1"/>
          </a:p>
        </p:txBody>
      </p:sp>
    </p:spTree>
    <p:extLst>
      <p:ext uri="{BB962C8B-B14F-4D97-AF65-F5344CB8AC3E}">
        <p14:creationId xmlns:p14="http://schemas.microsoft.com/office/powerpoint/2010/main" val="633290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78C8CF-7B2C-5BCA-3EBA-31E15BDACEC7}"/>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Communication in Agile </a:t>
            </a:r>
          </a:p>
        </p:txBody>
      </p:sp>
      <p:sp>
        <p:nvSpPr>
          <p:cNvPr id="3" name="Content Placeholder 2">
            <a:extLst>
              <a:ext uri="{FF2B5EF4-FFF2-40B4-BE49-F238E27FC236}">
                <a16:creationId xmlns:a16="http://schemas.microsoft.com/office/drawing/2014/main" id="{8C86D16B-C900-59D2-12E2-F3093EC275AE}"/>
              </a:ext>
            </a:extLst>
          </p:cNvPr>
          <p:cNvSpPr>
            <a:spLocks noGrp="1"/>
          </p:cNvSpPr>
          <p:nvPr>
            <p:ph idx="1"/>
          </p:nvPr>
        </p:nvSpPr>
        <p:spPr>
          <a:xfrm>
            <a:off x="6342737" y="589324"/>
            <a:ext cx="5253474" cy="5716491"/>
          </a:xfrm>
        </p:spPr>
        <p:txBody>
          <a:bodyPr vert="horz" lIns="91440" tIns="45720" rIns="91440" bIns="45720" rtlCol="0" anchor="ctr">
            <a:normAutofit/>
          </a:bodyPr>
          <a:lstStyle/>
          <a:p>
            <a:pPr marL="0" indent="0">
              <a:buNone/>
            </a:pPr>
            <a:r>
              <a:rPr lang="en-US" sz="2000" dirty="0">
                <a:ea typeface="+mn-lt"/>
                <a:cs typeface="+mn-lt"/>
              </a:rPr>
              <a:t>Communication plays a major role in Agile because it helps teams stay aligned and address issues early. Also practices like Daily Scrums give team members a space to share progress, discuss blockers, and support each other. This helps prevent small problems from turning into bigger ones.</a:t>
            </a:r>
            <a:endParaRPr lang="en-US" sz="2000" dirty="0"/>
          </a:p>
          <a:p>
            <a:pPr marL="0" indent="0">
              <a:buNone/>
            </a:pPr>
            <a:endParaRPr lang="en-US" sz="2000">
              <a:ea typeface="+mn-lt"/>
              <a:cs typeface="+mn-lt"/>
            </a:endParaRPr>
          </a:p>
          <a:p>
            <a:pPr marL="0" indent="0">
              <a:buNone/>
            </a:pPr>
            <a:r>
              <a:rPr lang="en-US" sz="2000" dirty="0">
                <a:ea typeface="+mn-lt"/>
                <a:cs typeface="+mn-lt"/>
              </a:rPr>
              <a:t>From what I’ve seen, consistent communication also improves teamwork and keeps everyone focused on the same goals (</a:t>
            </a:r>
            <a:r>
              <a:rPr lang="en-US" sz="2000" dirty="0" err="1">
                <a:ea typeface="+mn-lt"/>
                <a:cs typeface="+mn-lt"/>
              </a:rPr>
              <a:t>Raaﬁ</a:t>
            </a:r>
            <a:r>
              <a:rPr lang="en-US" sz="2000" dirty="0">
                <a:ea typeface="+mn-lt"/>
                <a:cs typeface="+mn-lt"/>
              </a:rPr>
              <a:t> et al., 2023).</a:t>
            </a:r>
            <a:endParaRPr lang="en-US" sz="2000" dirty="0"/>
          </a:p>
          <a:p>
            <a:endParaRPr lang="en-US" sz="2000"/>
          </a:p>
        </p:txBody>
      </p:sp>
    </p:spTree>
    <p:extLst>
      <p:ext uri="{BB962C8B-B14F-4D97-AF65-F5344CB8AC3E}">
        <p14:creationId xmlns:p14="http://schemas.microsoft.com/office/powerpoint/2010/main" val="4207241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C10E9A-3BDF-78C4-D311-3D3344C8856A}"/>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Agile vs Waterfall </a:t>
            </a:r>
          </a:p>
        </p:txBody>
      </p:sp>
      <p:sp>
        <p:nvSpPr>
          <p:cNvPr id="3" name="Content Placeholder 2">
            <a:extLst>
              <a:ext uri="{FF2B5EF4-FFF2-40B4-BE49-F238E27FC236}">
                <a16:creationId xmlns:a16="http://schemas.microsoft.com/office/drawing/2014/main" id="{3C37A3A8-1BFB-9FB1-1335-07B651ED27A1}"/>
              </a:ext>
            </a:extLst>
          </p:cNvPr>
          <p:cNvSpPr>
            <a:spLocks noGrp="1"/>
          </p:cNvSpPr>
          <p:nvPr>
            <p:ph idx="1"/>
          </p:nvPr>
        </p:nvSpPr>
        <p:spPr>
          <a:xfrm>
            <a:off x="4429259" y="739717"/>
            <a:ext cx="7126847" cy="4643680"/>
          </a:xfrm>
        </p:spPr>
        <p:txBody>
          <a:bodyPr vert="horz" lIns="91440" tIns="45720" rIns="91440" bIns="45720" rtlCol="0" anchor="ctr">
            <a:normAutofit/>
          </a:bodyPr>
          <a:lstStyle/>
          <a:p>
            <a:pPr marL="0" indent="0">
              <a:buNone/>
            </a:pPr>
            <a:r>
              <a:rPr lang="en-US" sz="2400" dirty="0">
                <a:ea typeface="+mn-lt"/>
                <a:cs typeface="+mn-lt"/>
              </a:rPr>
              <a:t>Agile and Waterfall take very different approaches to development.</a:t>
            </a:r>
            <a:endParaRPr lang="en-US" sz="2400" b="1"/>
          </a:p>
          <a:p>
            <a:pPr marL="0" indent="0">
              <a:buNone/>
            </a:pPr>
            <a:endParaRPr lang="en-US" sz="1600" dirty="0">
              <a:ea typeface="+mn-lt"/>
              <a:cs typeface="+mn-lt"/>
            </a:endParaRPr>
          </a:p>
          <a:p>
            <a:r>
              <a:rPr lang="en-US" sz="2000" b="1" dirty="0">
                <a:ea typeface="+mn-lt"/>
                <a:cs typeface="+mn-lt"/>
              </a:rPr>
              <a:t>Agile</a:t>
            </a:r>
            <a:r>
              <a:rPr lang="en-US" sz="2000" dirty="0">
                <a:ea typeface="+mn-lt"/>
                <a:cs typeface="+mn-lt"/>
              </a:rPr>
              <a:t> is flexible and allows teams to adjust as new information comes up </a:t>
            </a:r>
            <a:endParaRPr lang="en-US" dirty="0"/>
          </a:p>
          <a:p>
            <a:r>
              <a:rPr lang="en-US" sz="2000" b="1">
                <a:ea typeface="+mn-lt"/>
                <a:cs typeface="+mn-lt"/>
              </a:rPr>
              <a:t>Waterfall</a:t>
            </a:r>
            <a:r>
              <a:rPr lang="en-US" sz="2000">
                <a:ea typeface="+mn-lt"/>
                <a:cs typeface="+mn-lt"/>
              </a:rPr>
              <a:t> follows a strict, step-by-step process where each phase must be completed before moving to the next</a:t>
            </a:r>
            <a:endParaRPr lang="en-US"/>
          </a:p>
          <a:p>
            <a:endParaRPr lang="en-US" sz="2000" b="1" dirty="0"/>
          </a:p>
        </p:txBody>
      </p:sp>
      <p:sp>
        <p:nvSpPr>
          <p:cNvPr id="5" name="TextBox 4">
            <a:extLst>
              <a:ext uri="{FF2B5EF4-FFF2-40B4-BE49-F238E27FC236}">
                <a16:creationId xmlns:a16="http://schemas.microsoft.com/office/drawing/2014/main" id="{8C8D661C-1B22-9C07-04AF-1AF5A4556633}"/>
              </a:ext>
            </a:extLst>
          </p:cNvPr>
          <p:cNvSpPr txBox="1"/>
          <p:nvPr/>
        </p:nvSpPr>
        <p:spPr>
          <a:xfrm>
            <a:off x="4431632" y="4572000"/>
            <a:ext cx="7228973" cy="16104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u="none" strike="noStrike" baseline="0" dirty="0">
                <a:solidFill>
                  <a:srgbClr val="000000"/>
                </a:solidFill>
                <a:latin typeface="Aptos"/>
                <a:ea typeface="Segoe UI"/>
                <a:cs typeface="Segoe UI"/>
              </a:rPr>
              <a:t>Research </a:t>
            </a:r>
            <a:r>
              <a:rPr lang="en-US" sz="2000" dirty="0">
                <a:solidFill>
                  <a:srgbClr val="000000"/>
                </a:solidFill>
                <a:latin typeface="Aptos"/>
                <a:ea typeface="Segoe UI"/>
                <a:cs typeface="Segoe UI"/>
              </a:rPr>
              <a:t>also shows that</a:t>
            </a:r>
            <a:r>
              <a:rPr lang="en-US" sz="2000" b="0" i="0" u="none" strike="noStrike" baseline="0" dirty="0">
                <a:solidFill>
                  <a:srgbClr val="000000"/>
                </a:solidFill>
                <a:latin typeface="Aptos"/>
                <a:ea typeface="Segoe UI"/>
                <a:cs typeface="Segoe UI"/>
              </a:rPr>
              <a:t> traditional approaches like </a:t>
            </a:r>
            <a:r>
              <a:rPr lang="en-US" sz="2000" dirty="0">
                <a:solidFill>
                  <a:srgbClr val="000000"/>
                </a:solidFill>
                <a:latin typeface="Aptos"/>
                <a:ea typeface="Segoe UI"/>
                <a:cs typeface="Segoe UI"/>
              </a:rPr>
              <a:t>Waterfall often</a:t>
            </a:r>
            <a:r>
              <a:rPr lang="en-US" sz="2000" b="0" i="0" u="none" strike="noStrike" baseline="0" dirty="0">
                <a:solidFill>
                  <a:srgbClr val="000000"/>
                </a:solidFill>
                <a:latin typeface="Aptos"/>
                <a:ea typeface="Segoe UI"/>
                <a:cs typeface="Segoe UI"/>
              </a:rPr>
              <a:t> struggle when requirements change, while Agile </a:t>
            </a:r>
            <a:r>
              <a:rPr lang="en-US" sz="2000" dirty="0">
                <a:solidFill>
                  <a:srgbClr val="000000"/>
                </a:solidFill>
                <a:latin typeface="Aptos"/>
                <a:ea typeface="Segoe UI"/>
                <a:cs typeface="Segoe UI"/>
              </a:rPr>
              <a:t>is designed</a:t>
            </a:r>
            <a:r>
              <a:rPr lang="en-US" sz="2000" b="0" i="0" u="none" strike="noStrike" baseline="0" dirty="0">
                <a:solidFill>
                  <a:srgbClr val="000000"/>
                </a:solidFill>
                <a:latin typeface="Aptos"/>
                <a:ea typeface="Segoe UI"/>
                <a:cs typeface="Segoe UI"/>
              </a:rPr>
              <a:t> to adapt through collaboration and </a:t>
            </a:r>
            <a:r>
              <a:rPr lang="en-US" sz="2000" dirty="0">
                <a:solidFill>
                  <a:srgbClr val="000000"/>
                </a:solidFill>
                <a:latin typeface="Aptos"/>
                <a:ea typeface="Segoe UI"/>
                <a:cs typeface="Segoe UI"/>
              </a:rPr>
              <a:t>continuous improvement</a:t>
            </a:r>
            <a:r>
              <a:rPr lang="en-US" sz="2000" b="0" i="0" u="none" strike="noStrike" baseline="0">
                <a:solidFill>
                  <a:srgbClr val="000000"/>
                </a:solidFill>
                <a:latin typeface="Aptos"/>
                <a:ea typeface="Segoe UI"/>
                <a:cs typeface="Segoe UI"/>
              </a:rPr>
              <a:t> (Natarajan &amp; Pichai, </a:t>
            </a:r>
            <a:r>
              <a:rPr lang="en-US" sz="2000">
                <a:solidFill>
                  <a:srgbClr val="000000"/>
                </a:solidFill>
                <a:latin typeface="Aptos"/>
                <a:ea typeface="Segoe UI"/>
                <a:cs typeface="Segoe UI"/>
              </a:rPr>
              <a:t>2024).</a:t>
            </a:r>
            <a:r>
              <a:rPr sz="2000" b="0" i="0" dirty="0">
                <a:solidFill>
                  <a:srgbClr val="000000"/>
                </a:solidFill>
                <a:latin typeface="Aptos"/>
                <a:ea typeface="Aptos"/>
                <a:cs typeface="Aptos"/>
              </a:rPr>
              <a:t>​</a:t>
            </a:r>
            <a:endParaRPr lang="en-US" dirty="0"/>
          </a:p>
          <a:p>
            <a:pPr algn="ctr"/>
            <a:endParaRPr lang="en-US"/>
          </a:p>
        </p:txBody>
      </p:sp>
    </p:spTree>
    <p:extLst>
      <p:ext uri="{BB962C8B-B14F-4D97-AF65-F5344CB8AC3E}">
        <p14:creationId xmlns:p14="http://schemas.microsoft.com/office/powerpoint/2010/main" val="178941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99EC72-4A12-8426-844E-FA90919ADF80}"/>
              </a:ext>
            </a:extLst>
          </p:cNvPr>
          <p:cNvSpPr>
            <a:spLocks noGrp="1"/>
          </p:cNvSpPr>
          <p:nvPr>
            <p:ph type="title"/>
          </p:nvPr>
        </p:nvSpPr>
        <p:spPr>
          <a:xfrm>
            <a:off x="686834" y="1153572"/>
            <a:ext cx="3200400" cy="4461163"/>
          </a:xfrm>
        </p:spPr>
        <p:txBody>
          <a:bodyPr>
            <a:normAutofit/>
          </a:bodyPr>
          <a:lstStyle/>
          <a:p>
            <a:r>
              <a:rPr lang="en-US">
                <a:solidFill>
                  <a:srgbClr val="FFFFFF"/>
                </a:solidFill>
              </a:rPr>
              <a:t>Example of Agile vs Waterfall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263846A-DC3E-CD3A-C3E4-92B06B48A886}"/>
              </a:ext>
            </a:extLst>
          </p:cNvPr>
          <p:cNvSpPr>
            <a:spLocks noGrp="1"/>
          </p:cNvSpPr>
          <p:nvPr>
            <p:ph idx="1"/>
          </p:nvPr>
        </p:nvSpPr>
        <p:spPr>
          <a:xfrm>
            <a:off x="4477387" y="-250868"/>
            <a:ext cx="7387753" cy="7360277"/>
          </a:xfrm>
        </p:spPr>
        <p:txBody>
          <a:bodyPr vert="horz" lIns="91440" tIns="45720" rIns="91440" bIns="45720" rtlCol="0" anchor="ctr">
            <a:normAutofit/>
          </a:bodyPr>
          <a:lstStyle/>
          <a:p>
            <a:pPr marL="0" indent="0">
              <a:buNone/>
            </a:pPr>
            <a:r>
              <a:rPr lang="en-US" sz="3200">
                <a:ea typeface="+mn-lt"/>
                <a:cs typeface="+mn-lt"/>
              </a:rPr>
              <a:t>During the SNHU Travel project, the focus shifted to wellness and detox travel.</a:t>
            </a:r>
            <a:endParaRPr lang="en-US" sz="3200"/>
          </a:p>
          <a:p>
            <a:pPr marL="342900" indent="-342900"/>
            <a:r>
              <a:rPr lang="en-US" sz="2400">
                <a:ea typeface="+mn-lt"/>
                <a:cs typeface="+mn-lt"/>
              </a:rPr>
              <a:t>With Agile, the team could adjust the backlog, reprioritize tasks, and continue working without restarting.</a:t>
            </a:r>
            <a:endParaRPr lang="en-US" sz="2400"/>
          </a:p>
          <a:p>
            <a:pPr marL="342900" indent="-342900"/>
            <a:r>
              <a:rPr lang="en-US" sz="2400" dirty="0">
                <a:ea typeface="+mn-lt"/>
                <a:cs typeface="+mn-lt"/>
              </a:rPr>
              <a:t>If this had been done using Waterfall, the team would have needed to go back to earlier phases like requirements and design. This would have delayed progress and possibly required redoing completed work.</a:t>
            </a:r>
            <a:endParaRPr lang="en-US" sz="2400"/>
          </a:p>
          <a:p>
            <a:pPr marL="0" indent="0">
              <a:buNone/>
            </a:pPr>
            <a:endParaRPr lang="en-US" sz="3200" dirty="0">
              <a:ea typeface="+mn-lt"/>
              <a:cs typeface="+mn-lt"/>
            </a:endParaRPr>
          </a:p>
          <a:p>
            <a:pPr marL="0" indent="0">
              <a:buNone/>
            </a:pPr>
            <a:endParaRPr lang="en-US" sz="1600" dirty="0"/>
          </a:p>
          <a:p>
            <a:pPr marL="0" indent="0">
              <a:buNone/>
            </a:pPr>
            <a:endParaRPr lang="en-US"/>
          </a:p>
        </p:txBody>
      </p:sp>
      <p:sp>
        <p:nvSpPr>
          <p:cNvPr id="4" name="TextBox 3">
            <a:extLst>
              <a:ext uri="{FF2B5EF4-FFF2-40B4-BE49-F238E27FC236}">
                <a16:creationId xmlns:a16="http://schemas.microsoft.com/office/drawing/2014/main" id="{02691FAD-1ABD-A21F-78C2-593175522178}"/>
              </a:ext>
            </a:extLst>
          </p:cNvPr>
          <p:cNvSpPr txBox="1"/>
          <p:nvPr/>
        </p:nvSpPr>
        <p:spPr>
          <a:xfrm>
            <a:off x="4166299" y="4957263"/>
            <a:ext cx="708658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dirty="0"/>
              <a:t>This example shows how Agile makes it easier to </a:t>
            </a:r>
            <a:r>
              <a:rPr lang="en-US" sz="2600"/>
              <a:t>adapt, while Waterfall can delay progress when </a:t>
            </a:r>
            <a:r>
              <a:rPr lang="en-US" sz="2600" dirty="0"/>
              <a:t>changes occur.</a:t>
            </a:r>
          </a:p>
          <a:p>
            <a:pPr algn="l"/>
            <a:endParaRPr lang="en-US" dirty="0"/>
          </a:p>
        </p:txBody>
      </p:sp>
    </p:spTree>
    <p:extLst>
      <p:ext uri="{BB962C8B-B14F-4D97-AF65-F5344CB8AC3E}">
        <p14:creationId xmlns:p14="http://schemas.microsoft.com/office/powerpoint/2010/main" val="321138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78BC3F-838B-7A25-E5CE-A5057CDD530F}"/>
            </a:ext>
          </a:extLst>
        </p:cNvPr>
        <p:cNvGrpSpPr/>
        <p:nvPr/>
      </p:nvGrpSpPr>
      <p:grpSpPr>
        <a:xfrm>
          <a:off x="0" y="0"/>
          <a:ext cx="0" cy="0"/>
          <a:chOff x="0" y="0"/>
          <a:chExt cx="0" cy="0"/>
        </a:xfrm>
      </p:grpSpPr>
      <p:sp>
        <p:nvSpPr>
          <p:cNvPr id="47" name="Content Placeholder 2">
            <a:extLst>
              <a:ext uri="{FF2B5EF4-FFF2-40B4-BE49-F238E27FC236}">
                <a16:creationId xmlns:a16="http://schemas.microsoft.com/office/drawing/2014/main" id="{3B74FE5A-147F-86FA-164A-7CB1439A4E91}"/>
              </a:ext>
            </a:extLst>
          </p:cNvPr>
          <p:cNvSpPr>
            <a:spLocks noGrp="1"/>
          </p:cNvSpPr>
          <p:nvPr>
            <p:ph idx="1"/>
          </p:nvPr>
        </p:nvSpPr>
        <p:spPr>
          <a:xfrm>
            <a:off x="761800" y="2470244"/>
            <a:ext cx="5334197" cy="3769835"/>
          </a:xfrm>
        </p:spPr>
        <p:txBody>
          <a:bodyPr anchor="ctr">
            <a:normAutofit/>
          </a:bodyPr>
          <a:lstStyle/>
          <a:p>
            <a:endParaRPr lang="en-US" sz="2000" dirty="0"/>
          </a:p>
          <a:p>
            <a:endParaRPr lang="en-US" sz="2000"/>
          </a:p>
        </p:txBody>
      </p:sp>
      <p:pic>
        <p:nvPicPr>
          <p:cNvPr id="48" name="Picture 47" descr="People at the meeting desk">
            <a:extLst>
              <a:ext uri="{FF2B5EF4-FFF2-40B4-BE49-F238E27FC236}">
                <a16:creationId xmlns:a16="http://schemas.microsoft.com/office/drawing/2014/main" id="{30D1750D-3575-00DA-726B-DC5741D51C34}"/>
              </a:ext>
            </a:extLst>
          </p:cNvPr>
          <p:cNvPicPr>
            <a:picLocks noChangeAspect="1"/>
          </p:cNvPicPr>
          <p:nvPr/>
        </p:nvPicPr>
        <p:blipFill>
          <a:blip r:embed="rId2"/>
          <a:srcRect l="22650" r="33671" b="7"/>
          <a:stretch>
            <a:fillRect/>
          </a:stretch>
        </p:blipFill>
        <p:spPr>
          <a:xfrm>
            <a:off x="7517438" y="-10886"/>
            <a:ext cx="4674563" cy="6868886"/>
          </a:xfrm>
          <a:prstGeom prst="rect">
            <a:avLst/>
          </a:prstGeom>
          <a:effectLst>
            <a:outerShdw blurRad="127000" dist="50800" dir="10800000" sx="99000" sy="99000" algn="r" rotWithShape="0">
              <a:prstClr val="black">
                <a:alpha val="40000"/>
              </a:prstClr>
            </a:outerShdw>
          </a:effectLst>
        </p:spPr>
      </p:pic>
      <p:sp>
        <p:nvSpPr>
          <p:cNvPr id="4" name="Title 3">
            <a:extLst>
              <a:ext uri="{FF2B5EF4-FFF2-40B4-BE49-F238E27FC236}">
                <a16:creationId xmlns:a16="http://schemas.microsoft.com/office/drawing/2014/main" id="{16639DFA-7EDE-F098-E6CD-D0FD806616F5}"/>
              </a:ext>
            </a:extLst>
          </p:cNvPr>
          <p:cNvSpPr>
            <a:spLocks noGrp="1"/>
          </p:cNvSpPr>
          <p:nvPr>
            <p:ph type="title"/>
          </p:nvPr>
        </p:nvSpPr>
        <p:spPr>
          <a:xfrm>
            <a:off x="189932" y="365125"/>
            <a:ext cx="7308376" cy="1336936"/>
          </a:xfrm>
        </p:spPr>
        <p:txBody>
          <a:bodyPr/>
          <a:lstStyle/>
          <a:p>
            <a:r>
              <a:rPr lang="en-US">
                <a:ea typeface="+mj-lt"/>
                <a:cs typeface="+mj-lt"/>
              </a:rPr>
              <a:t>Why Agile Is the Better </a:t>
            </a:r>
            <a:r>
              <a:rPr lang="en-US" dirty="0">
                <a:ea typeface="+mj-lt"/>
                <a:cs typeface="+mj-lt"/>
              </a:rPr>
              <a:t>Choice</a:t>
            </a:r>
            <a:endParaRPr lang="en-US" dirty="0"/>
          </a:p>
        </p:txBody>
      </p:sp>
      <p:sp>
        <p:nvSpPr>
          <p:cNvPr id="5" name="TextBox 4">
            <a:extLst>
              <a:ext uri="{FF2B5EF4-FFF2-40B4-BE49-F238E27FC236}">
                <a16:creationId xmlns:a16="http://schemas.microsoft.com/office/drawing/2014/main" id="{5C047C7C-215C-A301-5066-21BA3FAE219C}"/>
              </a:ext>
            </a:extLst>
          </p:cNvPr>
          <p:cNvSpPr txBox="1"/>
          <p:nvPr/>
        </p:nvSpPr>
        <p:spPr>
          <a:xfrm>
            <a:off x="210523" y="1678292"/>
            <a:ext cx="6701878"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Agile is the better choice for this project because the requirements are not fixed and changes have already </a:t>
            </a:r>
            <a:r>
              <a:rPr lang="en-US" sz="2400">
                <a:ea typeface="+mn-lt"/>
                <a:cs typeface="+mn-lt"/>
              </a:rPr>
              <a:t>happened throughout development.</a:t>
            </a:r>
            <a:endParaRPr lang="en-US" sz="2400"/>
          </a:p>
          <a:p>
            <a:endParaRPr lang="en-US" sz="2400" dirty="0">
              <a:ea typeface="+mn-lt"/>
              <a:cs typeface="+mn-lt"/>
            </a:endParaRPr>
          </a:p>
          <a:p>
            <a:r>
              <a:rPr lang="en-US" sz="2400" dirty="0">
                <a:ea typeface="+mn-lt"/>
                <a:cs typeface="+mn-lt"/>
              </a:rPr>
              <a:t>Instead of having to restart or redo work, Agile allows the team to adjust and continue moving forward. This makes it much easier to stay on track and handle changes as they </a:t>
            </a:r>
            <a:r>
              <a:rPr lang="en-US" sz="2400" dirty="0" err="1">
                <a:ea typeface="+mn-lt"/>
                <a:cs typeface="+mn-lt"/>
              </a:rPr>
              <a:t>come </a:t>
            </a:r>
            <a:r>
              <a:rPr lang="en-US" sz="2400" dirty="0">
                <a:ea typeface="+mn-lt"/>
                <a:cs typeface="+mn-lt"/>
              </a:rPr>
              <a:t>up.</a:t>
            </a:r>
            <a:endParaRPr lang="en-US" dirty="0"/>
          </a:p>
          <a:p>
            <a:endParaRPr lang="en-US" sz="2400" dirty="0">
              <a:ea typeface="+mn-lt"/>
              <a:cs typeface="+mn-lt"/>
            </a:endParaRPr>
          </a:p>
          <a:p>
            <a:r>
              <a:rPr lang="en-US" sz="2400" dirty="0">
                <a:ea typeface="+mn-lt"/>
                <a:cs typeface="+mn-lt"/>
              </a:rPr>
              <a:t>Based on both my experience and research, Agile works better in environments where flexibility and communication are important (Natarajan &amp; </a:t>
            </a:r>
            <a:r>
              <a:rPr lang="en-US" sz="2400">
                <a:ea typeface="+mn-lt"/>
                <a:cs typeface="+mn-lt"/>
              </a:rPr>
              <a:t>Pichai, 2024).</a:t>
            </a:r>
            <a:endParaRPr lang="en-US" sz="2400"/>
          </a:p>
          <a:p>
            <a:pPr algn="l"/>
            <a:endParaRPr lang="en-US" dirty="0"/>
          </a:p>
        </p:txBody>
      </p:sp>
    </p:spTree>
    <p:extLst>
      <p:ext uri="{BB962C8B-B14F-4D97-AF65-F5344CB8AC3E}">
        <p14:creationId xmlns:p14="http://schemas.microsoft.com/office/powerpoint/2010/main" val="2867691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2541B7-E4AB-A65D-2785-F3E77A3C8BEF}"/>
              </a:ext>
            </a:extLst>
          </p:cNvPr>
          <p:cNvSpPr>
            <a:spLocks noGrp="1"/>
          </p:cNvSpPr>
          <p:nvPr>
            <p:ph type="title"/>
          </p:nvPr>
        </p:nvSpPr>
        <p:spPr>
          <a:xfrm>
            <a:off x="4324575" y="-3174"/>
            <a:ext cx="3528193" cy="972494"/>
          </a:xfrm>
        </p:spPr>
        <p:txBody>
          <a:bodyPr vert="horz" lIns="91440" tIns="45720" rIns="91440" bIns="45720" rtlCol="0" anchor="b">
            <a:normAutofit/>
          </a:bodyPr>
          <a:lstStyle/>
          <a:p>
            <a:pPr algn="r"/>
            <a:r>
              <a:rPr lang="en-US" sz="4800">
                <a:solidFill>
                  <a:srgbClr val="FFFFFF"/>
                </a:solidFill>
              </a:rPr>
              <a:t>References </a:t>
            </a:r>
            <a:endParaRPr lang="en-US" sz="4800" kern="1200">
              <a:solidFill>
                <a:srgbClr val="FFFFFF"/>
              </a:solidFill>
              <a:latin typeface="+mj-lt"/>
              <a:ea typeface="+mj-ea"/>
              <a:cs typeface="+mj-cs"/>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9FB795B-A585-A7CC-0C2B-D6BACBB4E554}"/>
              </a:ext>
            </a:extLst>
          </p:cNvPr>
          <p:cNvSpPr txBox="1"/>
          <p:nvPr/>
        </p:nvSpPr>
        <p:spPr>
          <a:xfrm>
            <a:off x="1273849" y="970734"/>
            <a:ext cx="9632575"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chemeClr val="bg1"/>
                </a:solidFill>
                <a:ea typeface="+mn-lt"/>
                <a:cs typeface="+mn-lt"/>
              </a:rPr>
              <a:t>Appoh, M., Frempong, D., Akinboboye, O., Okoli, I., Afriyie, E., Umar, M. O., Umana, A. U., &amp; Omolayo, O. (2022).</a:t>
            </a:r>
            <a:br>
              <a:rPr lang="en-US" sz="2000" dirty="0">
                <a:ea typeface="+mn-lt"/>
                <a:cs typeface="+mn-lt"/>
              </a:rPr>
            </a:br>
            <a:r>
              <a:rPr lang="en-US" sz="2000" dirty="0">
                <a:solidFill>
                  <a:schemeClr val="bg1"/>
                </a:solidFill>
                <a:ea typeface="+mn-lt"/>
                <a:cs typeface="+mn-lt"/>
              </a:rPr>
              <a:t> </a:t>
            </a:r>
            <a:r>
              <a:rPr lang="en-US" sz="2000" i="1">
                <a:solidFill>
                  <a:schemeClr val="bg1"/>
                </a:solidFill>
                <a:ea typeface="+mn-lt"/>
                <a:cs typeface="+mn-lt"/>
              </a:rPr>
              <a:t>Agile-based project management strategies for enhancing collaboration in cross-functional software development teams.</a:t>
            </a:r>
            <a:br>
              <a:rPr lang="en-US" sz="2000" i="1" dirty="0">
                <a:ea typeface="+mn-lt"/>
                <a:cs typeface="+mn-lt"/>
              </a:rPr>
            </a:br>
            <a:r>
              <a:rPr lang="en-US" sz="2000" i="1">
                <a:solidFill>
                  <a:schemeClr val="bg1"/>
                </a:solidFill>
                <a:ea typeface="+mn-lt"/>
                <a:cs typeface="+mn-lt"/>
              </a:rPr>
              <a:t> Journal of Frontiers in Multidisciplinary Research, 3(2), 49–64.</a:t>
            </a:r>
            <a:br>
              <a:rPr lang="en-US" sz="2000" i="1" dirty="0">
                <a:ea typeface="+mn-lt"/>
                <a:cs typeface="+mn-lt"/>
              </a:rPr>
            </a:br>
            <a:r>
              <a:rPr lang="en-US" sz="2000" i="1" dirty="0">
                <a:solidFill>
                  <a:schemeClr val="bg1"/>
                </a:solidFill>
                <a:ea typeface="+mn-lt"/>
                <a:cs typeface="+mn-lt"/>
              </a:rPr>
              <a:t> </a:t>
            </a:r>
            <a:r>
              <a:rPr lang="en-US" sz="2000" dirty="0">
                <a:solidFill>
                  <a:schemeClr val="bg1"/>
                </a:solidFill>
                <a:ea typeface="+mn-lt"/>
                <a:cs typeface="+mn-lt"/>
                <a:hlinkClick r:id="rId2">
                  <a:extLst>
                    <a:ext uri="{A12FA001-AC4F-418D-AE19-62706E023703}">
                      <ahyp:hlinkClr xmlns:ahyp="http://schemas.microsoft.com/office/drawing/2018/hyperlinkcolor" val="tx"/>
                    </a:ext>
                  </a:extLst>
                </a:hlinkClick>
              </a:rPr>
              <a:t>https://doi.org/10.54660/IJFMR.2022.3.2.49-64</a:t>
            </a:r>
            <a:endParaRPr lang="en-US" sz="2000">
              <a:solidFill>
                <a:schemeClr val="bg1"/>
              </a:solidFill>
            </a:endParaRPr>
          </a:p>
          <a:p>
            <a:endParaRPr lang="en-US" sz="2000" dirty="0">
              <a:solidFill>
                <a:schemeClr val="bg1"/>
              </a:solidFill>
              <a:ea typeface="+mn-lt"/>
              <a:cs typeface="+mn-lt"/>
            </a:endParaRPr>
          </a:p>
          <a:p>
            <a:r>
              <a:rPr lang="en-US" sz="2000" dirty="0">
                <a:solidFill>
                  <a:schemeClr val="bg1"/>
                </a:solidFill>
                <a:ea typeface="+mn-lt"/>
                <a:cs typeface="+mn-lt"/>
              </a:rPr>
              <a:t>Majka, M. (2024).</a:t>
            </a:r>
            <a:br>
              <a:rPr lang="en-US" sz="2000" dirty="0">
                <a:ea typeface="+mn-lt"/>
                <a:cs typeface="+mn-lt"/>
              </a:rPr>
            </a:br>
            <a:r>
              <a:rPr lang="en-US" sz="2000" dirty="0">
                <a:solidFill>
                  <a:schemeClr val="bg1"/>
                </a:solidFill>
                <a:ea typeface="+mn-lt"/>
                <a:cs typeface="+mn-lt"/>
              </a:rPr>
              <a:t> </a:t>
            </a:r>
            <a:r>
              <a:rPr lang="en-US" sz="2000" i="1" dirty="0">
                <a:solidFill>
                  <a:schemeClr val="bg1"/>
                </a:solidFill>
                <a:ea typeface="+mn-lt"/>
                <a:cs typeface="+mn-lt"/>
              </a:rPr>
              <a:t>Common challenges for new Scrum Masters</a:t>
            </a:r>
            <a:r>
              <a:rPr lang="en-US" sz="2000" dirty="0">
                <a:solidFill>
                  <a:schemeClr val="bg1"/>
                </a:solidFill>
                <a:ea typeface="+mn-lt"/>
                <a:cs typeface="+mn-lt"/>
              </a:rPr>
              <a:t> [PDF].</a:t>
            </a:r>
            <a:br>
              <a:rPr lang="en-US" sz="2000" dirty="0">
                <a:ea typeface="+mn-lt"/>
                <a:cs typeface="+mn-lt"/>
              </a:rPr>
            </a:br>
            <a:r>
              <a:rPr lang="en-US" sz="2000" dirty="0">
                <a:solidFill>
                  <a:schemeClr val="bg1"/>
                </a:solidFill>
                <a:ea typeface="+mn-lt"/>
                <a:cs typeface="+mn-lt"/>
              </a:rPr>
              <a:t> ResearchGate. </a:t>
            </a:r>
            <a:r>
              <a:rPr lang="en-US" sz="2000" dirty="0">
                <a:solidFill>
                  <a:schemeClr val="bg1"/>
                </a:solidFill>
                <a:ea typeface="+mn-lt"/>
                <a:cs typeface="+mn-lt"/>
                <a:hlinkClick r:id="rId3">
                  <a:extLst>
                    <a:ext uri="{A12FA001-AC4F-418D-AE19-62706E023703}">
                      <ahyp:hlinkClr xmlns:ahyp="http://schemas.microsoft.com/office/drawing/2018/hyperlinkcolor" val="tx"/>
                    </a:ext>
                  </a:extLst>
                </a:hlinkClick>
              </a:rPr>
              <a:t>https://www.researchgate.net/</a:t>
            </a:r>
            <a:endParaRPr lang="en-US" sz="2000">
              <a:solidFill>
                <a:schemeClr val="bg1"/>
              </a:solidFill>
            </a:endParaRPr>
          </a:p>
          <a:p>
            <a:endParaRPr lang="en-US" sz="2000" dirty="0">
              <a:solidFill>
                <a:schemeClr val="bg1"/>
              </a:solidFill>
              <a:ea typeface="+mn-lt"/>
              <a:cs typeface="+mn-lt"/>
            </a:endParaRPr>
          </a:p>
          <a:p>
            <a:r>
              <a:rPr lang="en-US" sz="2000" dirty="0">
                <a:solidFill>
                  <a:schemeClr val="bg1"/>
                </a:solidFill>
                <a:ea typeface="+mn-lt"/>
                <a:cs typeface="+mn-lt"/>
              </a:rPr>
              <a:t>Natarajan, T., &amp; Pichai, S. (2024).</a:t>
            </a:r>
            <a:br>
              <a:rPr lang="en-US" sz="2000" dirty="0">
                <a:ea typeface="+mn-lt"/>
                <a:cs typeface="+mn-lt"/>
              </a:rPr>
            </a:br>
            <a:r>
              <a:rPr lang="en-US" sz="2000" dirty="0">
                <a:solidFill>
                  <a:schemeClr val="bg1"/>
                </a:solidFill>
                <a:ea typeface="+mn-lt"/>
                <a:cs typeface="+mn-lt"/>
              </a:rPr>
              <a:t> </a:t>
            </a:r>
            <a:r>
              <a:rPr lang="en-US" sz="2000" i="1" dirty="0">
                <a:solidFill>
                  <a:schemeClr val="bg1"/>
                </a:solidFill>
                <a:ea typeface="+mn-lt"/>
                <a:cs typeface="+mn-lt"/>
              </a:rPr>
              <a:t>Transition from waterfall to agile methodology: An action research study.</a:t>
            </a:r>
            <a:r>
              <a:rPr lang="en-US" sz="2000" dirty="0">
                <a:solidFill>
                  <a:schemeClr val="bg1"/>
                </a:solidFill>
                <a:ea typeface="+mn-lt"/>
                <a:cs typeface="+mn-lt"/>
              </a:rPr>
              <a:t> IEEE.</a:t>
            </a:r>
            <a:endParaRPr lang="en-US" sz="2000">
              <a:solidFill>
                <a:schemeClr val="bg1"/>
              </a:solidFill>
            </a:endParaRPr>
          </a:p>
          <a:p>
            <a:endParaRPr lang="en-US" sz="2000" dirty="0">
              <a:solidFill>
                <a:schemeClr val="bg1"/>
              </a:solidFill>
              <a:ea typeface="+mn-lt"/>
              <a:cs typeface="+mn-lt"/>
            </a:endParaRPr>
          </a:p>
          <a:p>
            <a:r>
              <a:rPr lang="en-US" sz="2000" dirty="0">
                <a:solidFill>
                  <a:schemeClr val="bg1"/>
                </a:solidFill>
                <a:ea typeface="+mn-lt"/>
                <a:cs typeface="+mn-lt"/>
              </a:rPr>
              <a:t>Raafi, E., </a:t>
            </a:r>
            <a:r>
              <a:rPr lang="en-US" sz="2000" dirty="0" err="1">
                <a:solidFill>
                  <a:schemeClr val="bg1"/>
                </a:solidFill>
                <a:ea typeface="+mn-lt"/>
                <a:cs typeface="+mn-lt"/>
              </a:rPr>
              <a:t>Hendayani</a:t>
            </a:r>
            <a:r>
              <a:rPr lang="en-US" sz="2000" dirty="0">
                <a:solidFill>
                  <a:schemeClr val="bg1"/>
                </a:solidFill>
                <a:ea typeface="+mn-lt"/>
                <a:cs typeface="+mn-lt"/>
              </a:rPr>
              <a:t>, R., &amp; </a:t>
            </a:r>
            <a:r>
              <a:rPr lang="en-US" sz="2000" dirty="0" err="1">
                <a:solidFill>
                  <a:schemeClr val="bg1"/>
                </a:solidFill>
                <a:ea typeface="+mn-lt"/>
                <a:cs typeface="+mn-lt"/>
              </a:rPr>
              <a:t>Pasaribu</a:t>
            </a:r>
            <a:r>
              <a:rPr lang="en-US" sz="2000" dirty="0">
                <a:solidFill>
                  <a:schemeClr val="bg1"/>
                </a:solidFill>
                <a:ea typeface="+mn-lt"/>
                <a:cs typeface="+mn-lt"/>
              </a:rPr>
              <a:t>, R. D. (2023).</a:t>
            </a:r>
            <a:br>
              <a:rPr lang="en-US" sz="2000" dirty="0">
                <a:ea typeface="+mn-lt"/>
                <a:cs typeface="+mn-lt"/>
              </a:rPr>
            </a:br>
            <a:r>
              <a:rPr lang="en-US" sz="2000" dirty="0">
                <a:solidFill>
                  <a:schemeClr val="bg1"/>
                </a:solidFill>
                <a:ea typeface="+mn-lt"/>
                <a:cs typeface="+mn-lt"/>
              </a:rPr>
              <a:t> </a:t>
            </a:r>
            <a:r>
              <a:rPr lang="en-US" sz="2000" i="1" dirty="0">
                <a:solidFill>
                  <a:schemeClr val="bg1"/>
                </a:solidFill>
                <a:ea typeface="+mn-lt"/>
                <a:cs typeface="+mn-lt"/>
              </a:rPr>
              <a:t>Analysis of the success of using a project management tool in managing projects.</a:t>
            </a:r>
            <a:br>
              <a:rPr lang="en-US" sz="2000" i="1" dirty="0">
                <a:ea typeface="+mn-lt"/>
                <a:cs typeface="+mn-lt"/>
              </a:rPr>
            </a:br>
            <a:r>
              <a:rPr lang="en-US" sz="2000" i="1" dirty="0">
                <a:solidFill>
                  <a:schemeClr val="bg1"/>
                </a:solidFill>
                <a:ea typeface="+mn-lt"/>
                <a:cs typeface="+mn-lt"/>
              </a:rPr>
              <a:t> International Journal of Business &amp; Management Studies, 4(7).</a:t>
            </a:r>
            <a:br>
              <a:rPr lang="en-US" sz="2000" i="1" dirty="0">
                <a:ea typeface="+mn-lt"/>
                <a:cs typeface="+mn-lt"/>
              </a:rPr>
            </a:br>
            <a:r>
              <a:rPr lang="en-US" sz="2000" i="1" dirty="0">
                <a:solidFill>
                  <a:schemeClr val="bg1"/>
                </a:solidFill>
                <a:ea typeface="+mn-lt"/>
                <a:cs typeface="+mn-lt"/>
              </a:rPr>
              <a:t> </a:t>
            </a:r>
            <a:r>
              <a:rPr lang="en-US" sz="2000" dirty="0">
                <a:solidFill>
                  <a:schemeClr val="bg1"/>
                </a:solidFill>
                <a:ea typeface="+mn-lt"/>
                <a:cs typeface="+mn-lt"/>
                <a:hlinkClick r:id="rId4">
                  <a:extLst>
                    <a:ext uri="{A12FA001-AC4F-418D-AE19-62706E023703}">
                      <ahyp:hlinkClr xmlns:ahyp="http://schemas.microsoft.com/office/drawing/2018/hyperlinkcolor" val="tx"/>
                    </a:ext>
                  </a:extLst>
                </a:hlinkClick>
              </a:rPr>
              <a:t>https://doi.org/10.56734/ijbms.v4n7a4</a:t>
            </a:r>
            <a:endParaRPr lang="en-US" sz="2000">
              <a:solidFill>
                <a:schemeClr val="bg1"/>
              </a:solidFill>
            </a:endParaRPr>
          </a:p>
          <a:p>
            <a:endParaRPr lang="en-US" sz="2400" i="1" dirty="0">
              <a:solidFill>
                <a:schemeClr val="bg1"/>
              </a:solidFill>
            </a:endParaRPr>
          </a:p>
          <a:p>
            <a:endParaRPr lang="en-US" sz="2000" dirty="0"/>
          </a:p>
        </p:txBody>
      </p:sp>
    </p:spTree>
    <p:extLst>
      <p:ext uri="{BB962C8B-B14F-4D97-AF65-F5344CB8AC3E}">
        <p14:creationId xmlns:p14="http://schemas.microsoft.com/office/powerpoint/2010/main" val="668253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Agile vs. Waterfall: SNHU Travel Project </vt:lpstr>
      <vt:lpstr>What is Agile? </vt:lpstr>
      <vt:lpstr>Agile Roles </vt:lpstr>
      <vt:lpstr>Agile Phases (SDLC in Agile)</vt:lpstr>
      <vt:lpstr>Communication in Agile </vt:lpstr>
      <vt:lpstr>Agile vs Waterfall </vt:lpstr>
      <vt:lpstr>Example of Agile vs Waterfall  </vt:lpstr>
      <vt:lpstr>Why Agile Is the Better Choice</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309</cp:revision>
  <dcterms:created xsi:type="dcterms:W3CDTF">2026-04-20T01:54:59Z</dcterms:created>
  <dcterms:modified xsi:type="dcterms:W3CDTF">2026-04-20T04:10:31Z</dcterms:modified>
</cp:coreProperties>
</file>